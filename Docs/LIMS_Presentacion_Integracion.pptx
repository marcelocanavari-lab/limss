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108960" cy="310896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pic>
        <p:nvPicPr>
          <p:cNvPr id="4" name="Image 0" descr="icons/flas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21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LAMAR SRL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1488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LIMS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658368" y="3154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Integral del Laboratorio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gestión de análisis a la integración digital del proceso de calidad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 y guía para demostración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" y="6126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necesidad buscamos resolver?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proceso manual a un proceso integrado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procesos de laboratorio requieren gestionar gran cantidad de información: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47802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muestreo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247802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423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437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889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8437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7889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095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546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y aprobaciones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32095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1546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5753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5204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materiales y lotes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35753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5204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de laboratorios externos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EJES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7FAFA"/>
          </a:solidFill>
          <a:ln w="12700">
            <a:solidFill>
              <a:srgbClr val="DCE8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0566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Reducir tareas manuales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8680" y="55138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transcripciones y menor esfuerzo operativo.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34840" y="48920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7FAFA"/>
          </a:solidFill>
          <a:ln w="12700">
            <a:solidFill>
              <a:srgbClr val="DCE8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50566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Minimizar errores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63440" y="55138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riesgo en el registro y análisis de datos.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0" y="48920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7FAFA"/>
          </a:solidFill>
          <a:ln w="12700">
            <a:solidFill>
              <a:srgbClr val="DCE8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50566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trazable y accesible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458200" y="55138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tiempo real para toda la organización.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· Integración ERP · Laboratorio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solución desarrollada internamente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diseñado para nuestros procesos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2061972"/>
            <a:ext cx="155448" cy="155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96596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 nuestros procesos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05840" y="229514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se ajusta a la forma real de trabajar del laboratorio, y sigue evolucionando: solo en las últimas semanas se sumaron facturación de laboratorios externos, alertas automáticas de stock de testigos, y el agente de generación automática de solicitudes.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94436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10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" y="3022092"/>
            <a:ext cx="155448" cy="155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9260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según necesidades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005840" y="325526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y se ajusta junto con la compañía, sin depender de terceros.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2160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14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3799332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70332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y control interno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005840" y="403250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propio domina y mantiene la solución de punta a punta.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4988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18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" y="4576572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448056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otros sistemas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005840" y="480974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de forma nativa y en producción con Gestión; en desarrollo la integración con eBR.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52760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22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" y="5353812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5840" y="525780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funcionalidades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005840" y="558698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 de incorporar nuevos procesos a medida que surgen.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· Integración ERP · Laboratorio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EL ERP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ingreso del insumo a la solicitud de muestreo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92640" y="841248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1D8A5C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841248"/>
            <a:ext cx="119237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intervención manual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pic>
        <p:nvPicPr>
          <p:cNvPr id="8" name="Image 0" descr="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212848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(ERP)</a:t>
            </a:r>
            <a:endParaRPr lang="en-US" sz="1150" dirty="0"/>
          </a:p>
        </p:txBody>
      </p:sp>
      <p:pic>
        <p:nvPicPr>
          <p:cNvPr id="10" name="Image 1" descr="icons/arrow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650" y="264718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65044" y="201168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</p:sp>
      <p:pic>
        <p:nvPicPr>
          <p:cNvPr id="12" name="Image 2" descr="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24" y="2212848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10764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150" dirty="0"/>
          </a:p>
        </p:txBody>
      </p:sp>
      <p:pic>
        <p:nvPicPr>
          <p:cNvPr id="14" name="Image 3" descr="icons/arrow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054" y="2647188"/>
            <a:ext cx="329184" cy="32918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181448" y="201168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pic>
        <p:nvPicPr>
          <p:cNvPr id="16" name="Image 4" descr="icons/bo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8" y="2212848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27168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endParaRPr lang="en-US" sz="1150" dirty="0"/>
          </a:p>
        </p:txBody>
      </p:sp>
      <p:pic>
        <p:nvPicPr>
          <p:cNvPr id="18" name="Image 5" descr="icons/arrow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9458" y="2647188"/>
            <a:ext cx="329184" cy="32918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497851" y="201168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</p:sp>
      <p:pic>
        <p:nvPicPr>
          <p:cNvPr id="20" name="Image 6" descr="icons/clipboar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931" y="2212848"/>
            <a:ext cx="548640" cy="5486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543571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</a:t>
            </a:r>
            <a:endParaRPr lang="en-US" sz="1150" dirty="0"/>
          </a:p>
        </p:txBody>
      </p:sp>
      <p:pic>
        <p:nvPicPr>
          <p:cNvPr id="22" name="Image 7" descr="icons/arrow_mi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5861" y="2647188"/>
            <a:ext cx="329184" cy="329184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9814255" y="201168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pic>
        <p:nvPicPr>
          <p:cNvPr id="24" name="Image 8" descr="icons/sampl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4335" y="2212848"/>
            <a:ext cx="548640" cy="54864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859975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50" dirty="0"/>
          </a:p>
        </p:txBody>
      </p:sp>
      <p:sp>
        <p:nvSpPr>
          <p:cNvPr id="26" name="Text 15"/>
          <p:cNvSpPr/>
          <p:nvPr/>
        </p:nvSpPr>
        <p:spPr>
          <a:xfrm>
            <a:off x="548640" y="3977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revisa periódicamente el ERP en busca de nuevos Informes de Recepción (IR). Evalúa automáticamente si corresponde generar una solicitud de muestreo, según una regla configurable por tipo de material y la existencia de una especificación vigente en LIMSS. Cuando no hay certeza suficiente, el caso queda señalado para revisión humana en vez de decidir a ciegas.</a:t>
            </a:r>
            <a:endParaRPr lang="en-US" sz="1250" dirty="0"/>
          </a:p>
        </p:txBody>
      </p:sp>
      <p:sp>
        <p:nvSpPr>
          <p:cNvPr id="27" name="Shape 16"/>
          <p:cNvSpPr/>
          <p:nvPr/>
        </p:nvSpPr>
        <p:spPr>
          <a:xfrm>
            <a:off x="548640" y="5074920"/>
            <a:ext cx="2882189" cy="384048"/>
          </a:xfrm>
          <a:prstGeom prst="roundRect">
            <a:avLst>
              <a:gd name="adj" fmla="val 50000"/>
            </a:avLst>
          </a:prstGeom>
          <a:solidFill>
            <a:srgbClr val="F7FAFA"/>
          </a:solidFill>
          <a:ln w="12700">
            <a:solidFill>
              <a:srgbClr val="DCE8E7"/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548640" y="5074920"/>
            <a:ext cx="288218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real, corriendo hoy</a:t>
            </a:r>
            <a:endParaRPr lang="en-US" sz="1100" dirty="0"/>
          </a:p>
        </p:txBody>
      </p:sp>
      <p:sp>
        <p:nvSpPr>
          <p:cNvPr id="29" name="Shape 18"/>
          <p:cNvSpPr/>
          <p:nvPr/>
        </p:nvSpPr>
        <p:spPr>
          <a:xfrm>
            <a:off x="3595421" y="5074920"/>
            <a:ext cx="2311603" cy="384048"/>
          </a:xfrm>
          <a:prstGeom prst="roundRect">
            <a:avLst>
              <a:gd name="adj" fmla="val 50000"/>
            </a:avLst>
          </a:prstGeom>
          <a:solidFill>
            <a:srgbClr val="F7FAFA"/>
          </a:solidFill>
          <a:ln w="12700">
            <a:solidFill>
              <a:srgbClr val="DCE8E7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3595421" y="5074920"/>
            <a:ext cx="23116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carga administrativa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6071616" y="5074920"/>
            <a:ext cx="2097634" cy="384048"/>
          </a:xfrm>
          <a:prstGeom prst="roundRect">
            <a:avLst>
              <a:gd name="adj" fmla="val 50000"/>
            </a:avLst>
          </a:prstGeom>
          <a:solidFill>
            <a:srgbClr val="F7FAFA"/>
          </a:solidFill>
          <a:ln w="12700">
            <a:solidFill>
              <a:srgbClr val="DCE8E7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6071616" y="5074920"/>
            <a:ext cx="20976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riesgo de errores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8333842" y="5074920"/>
            <a:ext cx="2668219" cy="384048"/>
          </a:xfrm>
          <a:prstGeom prst="roundRect">
            <a:avLst>
              <a:gd name="adj" fmla="val 50000"/>
            </a:avLst>
          </a:prstGeom>
          <a:solidFill>
            <a:srgbClr val="F7FAFA"/>
          </a:solidFill>
          <a:ln w="12700">
            <a:solidFill>
              <a:srgbClr val="DCE8E7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8333842" y="5074920"/>
            <a:ext cx="266821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cada evaluación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548640" y="5577840"/>
            <a:ext cx="2596896" cy="384048"/>
          </a:xfrm>
          <a:prstGeom prst="roundRect">
            <a:avLst>
              <a:gd name="adj" fmla="val 50000"/>
            </a:avLst>
          </a:prstGeom>
          <a:solidFill>
            <a:srgbClr val="F7FAFA"/>
          </a:solidFill>
          <a:ln w="12700">
            <a:solidFill>
              <a:srgbClr val="DCE8E7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548640" y="557784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más rápido del análisis</a:t>
            </a:r>
            <a:endParaRPr lang="en-US" sz="1100" dirty="0"/>
          </a:p>
        </p:txBody>
      </p:sp>
      <p:sp>
        <p:nvSpPr>
          <p:cNvPr id="37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· Integración ERP · Laboratorio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integral del laboratorio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muestra hasta el resultado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</a:t>
            </a:r>
            <a:endParaRPr lang="en-US" sz="1250" dirty="0"/>
          </a:p>
        </p:txBody>
      </p:sp>
      <p:pic>
        <p:nvPicPr>
          <p:cNvPr id="7" name="Image 0" descr="icons/arrow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9424" y="2098548"/>
            <a:ext cx="237744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96312" y="196596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0A2540"/>
          </a:solidFill>
          <a:ln/>
        </p:spPr>
      </p:sp>
      <p:sp>
        <p:nvSpPr>
          <p:cNvPr id="9" name="Text 6"/>
          <p:cNvSpPr/>
          <p:nvPr/>
        </p:nvSpPr>
        <p:spPr>
          <a:xfrm>
            <a:off x="2496312" y="1965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</a:t>
            </a:r>
            <a:endParaRPr lang="en-US" sz="1250" dirty="0"/>
          </a:p>
        </p:txBody>
      </p:sp>
      <p:pic>
        <p:nvPicPr>
          <p:cNvPr id="10" name="Image 1" descr="icons/arrow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209854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52544" y="196596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0A2540"/>
          </a:solidFill>
          <a:ln/>
        </p:spPr>
      </p:sp>
      <p:sp>
        <p:nvSpPr>
          <p:cNvPr id="12" name="Text 8"/>
          <p:cNvSpPr/>
          <p:nvPr/>
        </p:nvSpPr>
        <p:spPr>
          <a:xfrm>
            <a:off x="4352544" y="1965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50" dirty="0"/>
          </a:p>
        </p:txBody>
      </p:sp>
      <p:pic>
        <p:nvPicPr>
          <p:cNvPr id="13" name="Image 2" descr="icons/arrow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098548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08776" y="196596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0A2540"/>
          </a:solidFill>
          <a:ln/>
        </p:spPr>
      </p:sp>
      <p:sp>
        <p:nvSpPr>
          <p:cNvPr id="15" name="Text 10"/>
          <p:cNvSpPr/>
          <p:nvPr/>
        </p:nvSpPr>
        <p:spPr>
          <a:xfrm>
            <a:off x="6208776" y="1965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250" dirty="0"/>
          </a:p>
        </p:txBody>
      </p:sp>
      <p:pic>
        <p:nvPicPr>
          <p:cNvPr id="16" name="Image 3" descr="icons/arrow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09854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065008" y="196596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0A2540"/>
          </a:solidFill>
          <a:ln/>
        </p:spPr>
      </p:sp>
      <p:sp>
        <p:nvSpPr>
          <p:cNvPr id="18" name="Text 12"/>
          <p:cNvSpPr/>
          <p:nvPr/>
        </p:nvSpPr>
        <p:spPr>
          <a:xfrm>
            <a:off x="8065008" y="1965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250" dirty="0"/>
          </a:p>
        </p:txBody>
      </p:sp>
      <p:pic>
        <p:nvPicPr>
          <p:cNvPr id="19" name="Image 4" descr="icons/arrow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2098548"/>
            <a:ext cx="237744" cy="2377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921240" y="196596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21" name="Text 14"/>
          <p:cNvSpPr/>
          <p:nvPr/>
        </p:nvSpPr>
        <p:spPr>
          <a:xfrm>
            <a:off x="9921240" y="1965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40080" y="29260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3" name="Text 16"/>
          <p:cNvSpPr/>
          <p:nvPr/>
        </p:nvSpPr>
        <p:spPr>
          <a:xfrm>
            <a:off x="877824" y="28803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035040" y="29260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5" name="Text 18"/>
          <p:cNvSpPr/>
          <p:nvPr/>
        </p:nvSpPr>
        <p:spPr>
          <a:xfrm>
            <a:off x="6272784" y="28803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 — productos con más de un principio activo, cada uno con su ensayo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40080" y="32552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7" name="Text 20"/>
          <p:cNvSpPr/>
          <p:nvPr/>
        </p:nvSpPr>
        <p:spPr>
          <a:xfrm>
            <a:off x="877824" y="320954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analíticos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035040" y="34381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9" name="Text 22"/>
          <p:cNvSpPr/>
          <p:nvPr/>
        </p:nvSpPr>
        <p:spPr>
          <a:xfrm>
            <a:off x="6272784" y="339242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40080" y="35844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1" name="Text 24"/>
          <p:cNvSpPr/>
          <p:nvPr/>
        </p:nvSpPr>
        <p:spPr>
          <a:xfrm>
            <a:off x="877824" y="35387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035040" y="3767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3" name="Text 26"/>
          <p:cNvSpPr/>
          <p:nvPr/>
        </p:nvSpPr>
        <p:spPr>
          <a:xfrm>
            <a:off x="6272784" y="37216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40080" y="39136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5" name="Text 28"/>
          <p:cNvSpPr/>
          <p:nvPr/>
        </p:nvSpPr>
        <p:spPr>
          <a:xfrm>
            <a:off x="877824" y="3867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Testigos y estándares — stock, vencimientos, alertas de crítico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035040" y="40965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7" name="Text 30"/>
          <p:cNvSpPr/>
          <p:nvPr/>
        </p:nvSpPr>
        <p:spPr>
          <a:xfrm>
            <a:off x="6272784" y="40507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— protocolos, certificados, comprobantes del proveedor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640080" y="442569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9" name="Text 32"/>
          <p:cNvSpPr/>
          <p:nvPr/>
        </p:nvSpPr>
        <p:spPr>
          <a:xfrm>
            <a:off x="877824" y="43799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de laboratorios externos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6035040" y="46085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1" name="Text 34"/>
          <p:cNvSpPr/>
          <p:nvPr/>
        </p:nvSpPr>
        <p:spPr>
          <a:xfrm>
            <a:off x="6272784" y="45628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operaciones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640080" y="598932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0A2540"/>
          </a:solidFill>
          <a:ln/>
        </p:spPr>
      </p:sp>
      <p:sp>
        <p:nvSpPr>
          <p:cNvPr id="43" name="Text 36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una única fuente de información para la gestión del laboratorio.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· Integración ERP · Laboratorio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EBR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Conectando Laboratorio y Producción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326880" y="841248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C9820A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841248"/>
            <a:ext cx="119237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288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200" dirty="0"/>
          </a:p>
        </p:txBody>
      </p:sp>
      <p:pic>
        <p:nvPicPr>
          <p:cNvPr id="8" name="Image 0" descr="icons/arrow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0146" y="2226564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447483" y="18288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2493203" y="18288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eBR</a:t>
            </a:r>
            <a:endParaRPr lang="en-US" sz="1200" dirty="0"/>
          </a:p>
        </p:txBody>
      </p:sp>
      <p:pic>
        <p:nvPicPr>
          <p:cNvPr id="11" name="Image 1" descr="icons/arrow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989" y="2226564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46326" y="18288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</p:sp>
      <p:sp>
        <p:nvSpPr>
          <p:cNvPr id="13" name="Text 9"/>
          <p:cNvSpPr/>
          <p:nvPr/>
        </p:nvSpPr>
        <p:spPr>
          <a:xfrm>
            <a:off x="4392046" y="18288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 — Toma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Muestra</a:t>
            </a:r>
            <a:endParaRPr lang="en-US" sz="1200" dirty="0"/>
          </a:p>
        </p:txBody>
      </p:sp>
      <p:pic>
        <p:nvPicPr>
          <p:cNvPr id="14" name="Image 2" descr="icons/arrow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832" y="2226564"/>
            <a:ext cx="256032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45169" y="18288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2C39A"/>
          </a:solidFill>
          <a:ln/>
        </p:spPr>
      </p:sp>
      <p:sp>
        <p:nvSpPr>
          <p:cNvPr id="16" name="Text 11"/>
          <p:cNvSpPr/>
          <p:nvPr/>
        </p:nvSpPr>
        <p:spPr>
          <a:xfrm>
            <a:off x="6290889" y="18288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</a:t>
            </a:r>
            <a:endParaRPr lang="en-US" sz="1200" dirty="0"/>
          </a:p>
        </p:txBody>
      </p:sp>
      <p:pic>
        <p:nvPicPr>
          <p:cNvPr id="17" name="Image 3" descr="icons/arrow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675" y="222656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44012" y="18288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</p:sp>
      <p:sp>
        <p:nvSpPr>
          <p:cNvPr id="19" name="Text 13"/>
          <p:cNvSpPr/>
          <p:nvPr/>
        </p:nvSpPr>
        <p:spPr>
          <a:xfrm>
            <a:off x="8189732" y="18288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pic>
        <p:nvPicPr>
          <p:cNvPr id="20" name="Image 4" descr="icons/arrow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518" y="2226564"/>
            <a:ext cx="256032" cy="25603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0042855" y="18288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0A896"/>
          </a:solidFill>
          <a:ln/>
        </p:spPr>
      </p:sp>
      <p:sp>
        <p:nvSpPr>
          <p:cNvPr id="22" name="Text 15"/>
          <p:cNvSpPr/>
          <p:nvPr/>
        </p:nvSpPr>
        <p:spPr>
          <a:xfrm>
            <a:off x="10088575" y="18288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eBR / proceso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productivo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8640" y="3200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LIMS se está integrando con el Electronic Batch Record (eBR): al ejecutar el paso "Toma de Muestra" dentro de un PREL de producción, el sistema va a generar automáticamente la muestra correspondiente en LIMS, sin cargarla a mano en dos sistemas distintos. La integración ya está diseñada e implementada a nivel de código; queda pendiente de validación antes de habilitarla en producción.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48640" y="44348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A2540"/>
          </a:solidFill>
          <a:ln/>
        </p:spPr>
      </p:sp>
      <p:sp>
        <p:nvSpPr>
          <p:cNvPr id="25" name="Text 18"/>
          <p:cNvSpPr/>
          <p:nvPr/>
        </p:nvSpPr>
        <p:spPr>
          <a:xfrm>
            <a:off x="86868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"El resultado del laboratorio pasa a formar parte del flujo digital del proceso productivo."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· Integración ERP · Laboratorio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LIMS sigue creciendo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F7FAFA"/>
          </a:solidFill>
          <a:ln w="12700">
            <a:solidFill>
              <a:srgbClr val="DCE8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146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7" name="Image 0" descr="icons/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6791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3375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con eBR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8862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pendiente antes de habilitarla en producción — ver sección anterior.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219456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F7FAFA"/>
          </a:solidFill>
          <a:ln w="12700">
            <a:solidFill>
              <a:srgbClr val="DCE8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25146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12" name="Image 1" descr="icons/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6791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46520" y="33375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 de contramuestras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46520" y="38862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módulo: administración centralizada de todas las contramuestras retenidas (registro, ubicación física, vencimientos y trazabilidad), hoy gestionadas fuera del sistema.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· Integración ERP · Laboratorio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LA COMPAÑÍA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obtenemos?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0F3552"/>
          </a:solidFill>
          <a:ln w="12700">
            <a:solidFill>
              <a:srgbClr val="1C5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6252" y="201168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6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268" y="21396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Trazabilidad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363016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Integridad de datos — auditoría inmutable, firma con PIN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419709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Reducción de errores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458114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Soporte a GMP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7373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0F3552"/>
          </a:solidFill>
          <a:ln w="12700">
            <a:solidFill>
              <a:srgbClr val="1C55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11012" y="201168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14" name="Image 1" descr="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213969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6344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Automatización — desde el ingreso hasta la solicitud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663440" y="381304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Menos tareas manuales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663440" y="419709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Menos transcripciones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663440" y="458114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Mayor velocidad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38160" y="17373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0F3552"/>
          </a:solidFill>
          <a:ln w="12700">
            <a:solidFill>
              <a:srgbClr val="1C557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605772" y="201168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22" name="Image 2" descr="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788" y="213969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3816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5820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Información en tiempo real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458200" y="363016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Seguimiento de procesos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458200" y="401421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Indicadores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458200" y="439826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Mejor toma de decisiones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4864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C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"El LIMS no es solamente una herramienta del laboratorio: es un componente de la transformación digital de la compañía."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· Integración ERP · Laboratorio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 CONJUNTO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información aislada a una cadena digital integrada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+ LIMS + eBR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860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</a:t>
            </a:r>
            <a:endParaRPr lang="en-US" sz="1150" dirty="0"/>
          </a:p>
        </p:txBody>
      </p:sp>
      <p:pic>
        <p:nvPicPr>
          <p:cNvPr id="7" name="Image 0" descr="icons/arrow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4853" y="2761488"/>
            <a:ext cx="237744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61489" y="228600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2207209" y="22860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</a:t>
            </a:r>
            <a:endParaRPr lang="en-US" sz="1150" dirty="0"/>
          </a:p>
        </p:txBody>
      </p:sp>
      <p:pic>
        <p:nvPicPr>
          <p:cNvPr id="10" name="Image 1" descr="icons/arrow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702" y="276148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74338" y="228600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2" name="Text 8"/>
          <p:cNvSpPr/>
          <p:nvPr/>
        </p:nvSpPr>
        <p:spPr>
          <a:xfrm>
            <a:off x="3820058" y="22860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50" dirty="0"/>
          </a:p>
        </p:txBody>
      </p:sp>
      <p:pic>
        <p:nvPicPr>
          <p:cNvPr id="13" name="Image 2" descr="icons/arrow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551" y="2761488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387188" y="228600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5" name="Text 10"/>
          <p:cNvSpPr/>
          <p:nvPr/>
        </p:nvSpPr>
        <p:spPr>
          <a:xfrm>
            <a:off x="5432908" y="22860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50" dirty="0"/>
          </a:p>
        </p:txBody>
      </p:sp>
      <p:pic>
        <p:nvPicPr>
          <p:cNvPr id="16" name="Image 3" descr="icons/arrow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400" y="276148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000037" y="228600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B9C7C6"/>
          </a:solidFill>
          <a:ln/>
        </p:spPr>
      </p:sp>
      <p:sp>
        <p:nvSpPr>
          <p:cNvPr id="18" name="Text 12"/>
          <p:cNvSpPr/>
          <p:nvPr/>
        </p:nvSpPr>
        <p:spPr>
          <a:xfrm>
            <a:off x="7045757" y="22860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150" dirty="0"/>
          </a:p>
        </p:txBody>
      </p:sp>
      <p:pic>
        <p:nvPicPr>
          <p:cNvPr id="19" name="Image 4" descr="icons/arrow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249" y="2761488"/>
            <a:ext cx="237744" cy="2377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612886" y="228600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B9C7C6"/>
          </a:solidFill>
          <a:ln/>
        </p:spPr>
      </p:sp>
      <p:sp>
        <p:nvSpPr>
          <p:cNvPr id="21" name="Text 14"/>
          <p:cNvSpPr/>
          <p:nvPr/>
        </p:nvSpPr>
        <p:spPr>
          <a:xfrm>
            <a:off x="8658606" y="22860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/ eBR</a:t>
            </a:r>
            <a:endParaRPr lang="en-US" sz="1150" dirty="0"/>
          </a:p>
        </p:txBody>
      </p:sp>
      <p:pic>
        <p:nvPicPr>
          <p:cNvPr id="22" name="Image 5" descr="icons/arrow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9099" y="276148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0225735" y="228600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B9C7C6"/>
          </a:solidFill>
          <a:ln/>
        </p:spPr>
      </p:sp>
      <p:sp>
        <p:nvSpPr>
          <p:cNvPr id="24" name="Text 16"/>
          <p:cNvSpPr/>
          <p:nvPr/>
        </p:nvSpPr>
        <p:spPr>
          <a:xfrm>
            <a:off x="10271455" y="22860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calidad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548640" y="3794760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1D8A5C"/>
          </a:solidFill>
          <a:ln/>
        </p:spPr>
      </p:sp>
      <p:sp>
        <p:nvSpPr>
          <p:cNvPr id="26" name="Text 18"/>
          <p:cNvSpPr/>
          <p:nvPr/>
        </p:nvSpPr>
        <p:spPr>
          <a:xfrm>
            <a:off x="548640" y="3794760"/>
            <a:ext cx="119237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2834640" y="3794760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C9820A"/>
          </a:solidFill>
          <a:ln/>
        </p:spPr>
      </p:sp>
      <p:sp>
        <p:nvSpPr>
          <p:cNvPr id="28" name="Text 20"/>
          <p:cNvSpPr/>
          <p:nvPr/>
        </p:nvSpPr>
        <p:spPr>
          <a:xfrm>
            <a:off x="2834640" y="3794760"/>
            <a:ext cx="119237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548640" y="4434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tramo de esta cadena (ingreso de insumos → muestreo, vía la integración con el ERP) ya está funcionando en producción. El tramo hacia eBR está en desarrollo, como parte de la misma visión: una cadena de información integrada, trazable y controlada de punta a punta.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548640" y="553212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0A2540"/>
          </a:solidFill>
          <a:ln/>
        </p:spPr>
      </p:sp>
      <p:sp>
        <p:nvSpPr>
          <p:cNvPr id="31" name="Text 23"/>
          <p:cNvSpPr/>
          <p:nvPr/>
        </p:nvSpPr>
        <p:spPr>
          <a:xfrm>
            <a:off x="548640" y="55321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continuación: DEMOSTRACIÓN DEL SISTEMA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· Integración ERP · Laboratorio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LA DEMOSTRACIÓN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real, de punta a punta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527048"/>
            <a:ext cx="10378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de un insumo en el Sistema de Gestión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84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10378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 la solicitud de muestreo — mostrar el agente en vivo, o el registro de auditoría de una evaluación reciente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87752"/>
            <a:ext cx="10378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Recepción/gestión de la muestra en LIMS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45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18104"/>
            <a:ext cx="10378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y realización de los análisis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758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75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648456"/>
            <a:ext cx="10378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Carga/obtención de resultados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178808"/>
            <a:ext cx="10378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aprobación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73659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9820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36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709160"/>
            <a:ext cx="10378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del requerimiento desde eBR mediante PREL  (cuando esté validada en producción)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26694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266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5239512"/>
            <a:ext cx="10378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del resultado con el proceso/lote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9893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7FAFA"/>
          </a:solidFill>
          <a:ln w="12700">
            <a:solidFill>
              <a:srgbClr val="DCE8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9893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 que acabamos de ver es el laboratorio integrado al proceso de la compañía, y no funcionando como una isla independiente."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· Integración ERP · Laboratorio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pic>
        <p:nvPicPr>
          <p:cNvPr id="3" name="Image 0" descr="icons/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088" y="18288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· Laboratorio Lamar SRL · Agosto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2026-08-13T13:50:43Z</dcterms:created>
  <dcterms:modified xsi:type="dcterms:W3CDTF">2026-08-13T13:50:43Z</dcterms:modified>
</cp:coreProperties>
</file>